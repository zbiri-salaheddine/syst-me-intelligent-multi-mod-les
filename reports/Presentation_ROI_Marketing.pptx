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F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60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94A3B8"/>
                </a:solidFill>
                <a:latin typeface="Calibri" panose="020F0502020204030204"/>
              </a:rPr>
              <a:t>EFREI Paris  |  DATA Engineering &amp; AI  |  M1  |  2025–2026</a:t>
            </a:r>
            <a:endParaRPr sz="1200" b="0" i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3000" b="1" i="0">
                <a:solidFill>
                  <a:srgbClr val="FFFFFF"/>
                </a:solidFill>
                <a:latin typeface="Calibri" panose="020F0502020204030204"/>
              </a:rPr>
              <a:t>Système Intelligent Multi-Modèles</a:t>
            </a:r>
            <a:endParaRPr sz="30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058400" cy="8229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2563EB"/>
                </a:solidFill>
                <a:latin typeface="Calibri" panose="020F0502020204030204"/>
              </a:rPr>
              <a:t>Optimisation du Retour sur Investissement Marketing</a:t>
            </a:r>
            <a:endParaRPr sz="2200" b="1" i="0">
              <a:solidFill>
                <a:srgbClr val="2563E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DBEAFE"/>
                </a:solidFill>
                <a:latin typeface="Calibri" panose="020F0502020204030204"/>
              </a:rPr>
              <a:t>Prédiction des ventes multicanal · Machine Learning &amp; Deep Learning · Dashboard · API REST</a:t>
            </a:r>
            <a:endParaRPr sz="1300" b="0" i="0">
              <a:solidFill>
                <a:srgbClr val="DBEAFE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94A3B8"/>
                </a:solidFill>
                <a:latin typeface="Calibri" panose="020F0502020204030204"/>
              </a:rPr>
              <a:t>Salah Eddine Zbiri </a:t>
            </a:r>
            <a:r>
              <a:rPr lang="fr-FR" sz="1200" b="0" i="0">
                <a:solidFill>
                  <a:srgbClr val="94A3B8"/>
                </a:solidFill>
                <a:latin typeface="Calibri" panose="020F0502020204030204"/>
              </a:rPr>
              <a:t> - jazouli abdelhadi</a:t>
            </a:r>
            <a:r>
              <a:rPr sz="1200" b="0" i="0">
                <a:solidFill>
                  <a:srgbClr val="94A3B8"/>
                </a:solidFill>
                <a:latin typeface="Calibri" panose="020F0502020204030204"/>
              </a:rPr>
              <a:t> ·  Encadrant : Sarah Malaeb  ·  Juin 2026</a:t>
            </a:r>
            <a:endParaRPr sz="1200" b="0" i="0">
              <a:solidFill>
                <a:srgbClr val="94A3B8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Agenda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0" y="132588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Contexte &amp; Problématique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09360" y="12801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03720" y="132588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Dataset &amp; Analyse Exploratoire (EDA)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79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Pipeline Méthodologique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3720" y="2240279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Comparaison des 4 Modèles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43000" y="3154679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Résultats &amp; Sélection du Modèle Final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309360" y="31089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31089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06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3154679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Interprétabilité SHAP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07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43000" y="406908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Dashboard Décisionnel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09360" y="40233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0233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08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406908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API REST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09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43000" y="498348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E293B"/>
                </a:solidFill>
                <a:latin typeface="Calibri" panose="020F0502020204030204"/>
              </a:rPr>
              <a:t>Conclusion &amp; Recommandations</a:t>
            </a:r>
            <a:endParaRPr sz="1300" b="0" i="0">
              <a:solidFill>
                <a:srgbClr val="1E293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01 — Contexte &amp; Problématique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10908792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881360" cy="8229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400" b="0" i="0">
                <a:solidFill>
                  <a:srgbClr val="1E293B"/>
                </a:solidFill>
                <a:latin typeface="Calibri" panose="020F0502020204030204"/>
              </a:rPr>
              <a:t>Les entreprises investissent des millions en publicité sans outil fiable pour estimer
leur retour sur investissement AVANT l'exécution des campagnes.</a:t>
            </a:r>
            <a:endParaRPr sz="14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68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246888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19" y="23317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E74C3C"/>
                </a:solidFill>
                <a:latin typeface="Calibri" panose="020F0502020204030204"/>
              </a:rPr>
              <a:t>TV</a:t>
            </a:r>
            <a:endParaRPr sz="1600" b="1" i="0">
              <a:solidFill>
                <a:srgbClr val="E74C3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19" y="27432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Budget le plus impactant mais le plus coûteux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83280" y="2194560"/>
            <a:ext cx="2468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2194560"/>
            <a:ext cx="246888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3317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F59E0B"/>
                </a:solidFill>
                <a:latin typeface="Calibri" panose="020F0502020204030204"/>
              </a:rPr>
              <a:t>Radio</a:t>
            </a:r>
            <a:endParaRPr sz="16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0" y="27432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Impact secondaire, complémentaire à TV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26480" y="2194560"/>
            <a:ext cx="2468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194560"/>
            <a:ext cx="2468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3317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2563EB"/>
                </a:solidFill>
                <a:latin typeface="Calibri" panose="020F0502020204030204"/>
              </a:rPr>
              <a:t>Social Media</a:t>
            </a:r>
            <a:endParaRPr sz="1600" b="1" i="0">
              <a:solidFill>
                <a:srgbClr val="2563E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17920" y="27432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Impact modéré, difficile à mesurer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69680" y="2194560"/>
            <a:ext cx="2468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9680" y="219456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23317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10B981"/>
                </a:solidFill>
                <a:latin typeface="Calibri" panose="020F0502020204030204"/>
              </a:rPr>
              <a:t>Influencer</a:t>
            </a:r>
            <a:endParaRPr sz="16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61119" y="2743200"/>
            <a:ext cx="22860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Coût élevé, impact réel incertain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0080" y="3840480"/>
            <a:ext cx="1090879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31920"/>
            <a:ext cx="10515600" cy="10058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1" i="0">
                <a:solidFill>
                  <a:srgbClr val="FFFFFF"/>
                </a:solidFill>
                <a:latin typeface="Calibri" panose="020F0502020204030204"/>
              </a:rPr>
              <a:t>Question centrale : Comment prédire le volume de ventes généré par une combinaison
de budgets marketing et identifier les canaux qui maximisent réellement le ROI ?</a:t>
            </a:r>
            <a:endParaRPr sz="15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1">
                <a:solidFill>
                  <a:srgbClr val="64748B"/>
                </a:solidFill>
                <a:latin typeface="Calibri" panose="020F0502020204030204"/>
              </a:rPr>
              <a:t>Tâche choisie : Régression (prédiction de Sales en M$) · Variable cible : Sales</a:t>
            </a:r>
            <a:endParaRPr sz="1200" b="0" i="1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02 — Dataset &amp; Analyse Exploratoire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5603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800" b="1" i="0">
                <a:solidFill>
                  <a:srgbClr val="2563EB"/>
                </a:solidFill>
                <a:latin typeface="Calibri" panose="020F0502020204030204"/>
              </a:rPr>
              <a:t>~4 500</a:t>
            </a:r>
            <a:endParaRPr sz="2800" b="1" i="0">
              <a:solidFill>
                <a:srgbClr val="2563E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Campagnes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56032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173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800" b="1" i="0">
                <a:solidFill>
                  <a:srgbClr val="10B981"/>
                </a:solidFill>
                <a:latin typeface="Calibri" panose="020F0502020204030204"/>
              </a:rPr>
              <a:t>4</a:t>
            </a:r>
            <a:endParaRPr sz="28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83280" y="20116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Features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56032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800" b="1" i="0">
                <a:solidFill>
                  <a:srgbClr val="F59E0B"/>
                </a:solidFill>
                <a:latin typeface="Calibri" panose="020F0502020204030204"/>
              </a:rPr>
              <a:t>1</a:t>
            </a:r>
            <a:endParaRPr sz="28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17920" y="20116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Variable cible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961120" y="1280160"/>
            <a:ext cx="256032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280160"/>
            <a:ext cx="256032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417320"/>
            <a:ext cx="2377440" cy="6400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800" b="1" i="0">
                <a:solidFill>
                  <a:srgbClr val="E74C3C"/>
                </a:solidFill>
                <a:latin typeface="Calibri" panose="020F0502020204030204"/>
              </a:rPr>
              <a:t>0.999</a:t>
            </a:r>
            <a:endParaRPr sz="2800" b="1" i="0">
              <a:solidFill>
                <a:srgbClr val="E74C3C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52560" y="201168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Corr. TV→Sales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pic>
        <p:nvPicPr>
          <p:cNvPr id="21" name="Picture 20" descr="05_budgets_vs_sal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834640"/>
            <a:ext cx="7132320" cy="1981200"/>
          </a:xfrm>
          <a:prstGeom prst="rect">
            <a:avLst/>
          </a:prstGeom>
        </p:spPr>
      </p:pic>
      <p:pic>
        <p:nvPicPr>
          <p:cNvPr id="22" name="Picture 21" descr="07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0"/>
            <a:ext cx="4023360" cy="3017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5760" y="5943600"/>
            <a:ext cx="713232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1">
                <a:solidFill>
                  <a:srgbClr val="64748B"/>
                </a:solidFill>
                <a:latin typeface="Calibri" panose="020F0502020204030204"/>
              </a:rPr>
              <a:t>Budget TV vs Sales (corr. = 0.999)</a:t>
            </a:r>
            <a:endParaRPr sz="1000" b="0" i="1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72400" y="5943600"/>
            <a:ext cx="402336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1">
                <a:solidFill>
                  <a:srgbClr val="64748B"/>
                </a:solidFill>
                <a:latin typeface="Calibri" panose="020F0502020204030204"/>
              </a:rPr>
              <a:t>Matrice de corrélation</a:t>
            </a:r>
            <a:endParaRPr sz="1000" b="0" i="1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03 — Pipeline Méthodologique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057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20574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20574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48132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01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1993392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EDA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2450592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Distributions, corrélations, outliers, insights métier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87751" y="2423160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61488" y="1463040"/>
            <a:ext cx="2057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61488" y="1463040"/>
            <a:ext cx="205740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61488" y="1463040"/>
            <a:ext cx="20574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25496" y="148132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02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25496" y="1993392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Preprocessing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25496" y="2450592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Imputation médiane, StandardScaler,
OneHotEncoder · FIT sur train only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846320" y="2423160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0056" y="1463040"/>
            <a:ext cx="2057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0056" y="1463040"/>
            <a:ext cx="20574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0056" y="1463040"/>
            <a:ext cx="20574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148132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03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84064" y="1993392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Modélisation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84064" y="2450592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4 modèles · GridSearchCV
5-fold KFold · Pipeline sklearn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104888" y="2423160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78624" y="1463040"/>
            <a:ext cx="2057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78624" y="1463040"/>
            <a:ext cx="20574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78624" y="1463040"/>
            <a:ext cx="20574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42631" y="148132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04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342631" y="1993392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Évaluation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42631" y="2450592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MAE, RMSE, R², MAPE
Train vs Test · Overfitting check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363456" y="2423160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7192" y="1463040"/>
            <a:ext cx="20574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37192" y="1463040"/>
            <a:ext cx="2057400" cy="73152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37192" y="1463040"/>
            <a:ext cx="2057400" cy="45720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0" y="1481328"/>
            <a:ext cx="36576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600" b="1" i="0">
                <a:solidFill>
                  <a:srgbClr val="FFFFFF"/>
                </a:solidFill>
                <a:latin typeface="Calibri" panose="020F0502020204030204"/>
              </a:rPr>
              <a:t>05</a:t>
            </a:r>
            <a:endParaRPr sz="1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601200" y="1993392"/>
            <a:ext cx="19659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Interprétabilité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01200" y="2450592"/>
            <a:ext cx="1965960" cy="11887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Feature Importance
Permutation · SHAP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02920" y="4069080"/>
            <a:ext cx="1118311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4114800"/>
            <a:ext cx="10789920" cy="8229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Principe fondamental ANTI DATA LEAKAGE : le preprocessor est FIT uniquement sur le train set et appliqué en transform sur le test — les pipelines sklearn garantissent ce principe même pendant la cross-validation (refit à chaque fold).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51663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1">
                <a:solidFill>
                  <a:srgbClr val="64748B"/>
                </a:solidFill>
                <a:latin typeface="Calibri" panose="020F0502020204030204"/>
              </a:rPr>
              <a:t>Livrables : 5 notebooks · src/ réutilisable · dashboard Streamlit · API FastAPI</a:t>
            </a:r>
            <a:endParaRPr sz="1100" b="0" i="1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04 — Les 4 Modèles Comparés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325880"/>
            <a:ext cx="26060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260604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6304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1" i="0">
                <a:solidFill>
                  <a:srgbClr val="2563EB"/>
                </a:solidFill>
                <a:latin typeface="Calibri" panose="020F0502020204030204"/>
              </a:rPr>
              <a:t>Régression
Linéaire</a:t>
            </a:r>
            <a:endParaRPr sz="1500" b="1" i="0">
              <a:solidFill>
                <a:srgbClr val="2563E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2648" y="219456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Baseline · Interprétable
Aucun tuning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" y="32461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CV RMSE: 6.240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26060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2606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46304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1" i="0">
                <a:solidFill>
                  <a:srgbClr val="10B981"/>
                </a:solidFill>
                <a:latin typeface="Calibri" panose="020F0502020204030204"/>
              </a:rPr>
              <a:t>Random
Forest</a:t>
            </a:r>
            <a:endParaRPr sz="15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93008" y="219456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Ensemble · 200 arbres
Capture non-linéarités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93008" y="32461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CV RMSE: 5.355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263640" y="1325880"/>
            <a:ext cx="26060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25880"/>
            <a:ext cx="26060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46304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1" i="0">
                <a:solidFill>
                  <a:srgbClr val="F59E0B"/>
                </a:solidFill>
                <a:latin typeface="Calibri" panose="020F0502020204030204"/>
              </a:rPr>
              <a:t>XGBoost</a:t>
            </a:r>
            <a:endParaRPr sz="15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368" y="219456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Gradient Boosting
État de l'art tabulaire
★ RETENU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73368" y="32461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CV RMSE: 5.367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263640" y="4800600"/>
            <a:ext cx="26060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4846320"/>
            <a:ext cx="2377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 panose="020F0502020204030204"/>
              </a:rPr>
              <a:t>MODELE FINAL</a:t>
            </a:r>
            <a:endParaRPr sz="1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4000" y="1325880"/>
            <a:ext cx="26060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1325880"/>
            <a:ext cx="26060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1463040"/>
            <a:ext cx="237744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1" i="0">
                <a:solidFill>
                  <a:srgbClr val="E74C3C"/>
                </a:solidFill>
                <a:latin typeface="Calibri" panose="020F0502020204030204"/>
              </a:rPr>
              <a:t>MLP
(Deep Learning)</a:t>
            </a:r>
            <a:endParaRPr sz="1500" b="1" i="0">
              <a:solidFill>
                <a:srgbClr val="E74C3C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253728" y="2194560"/>
            <a:ext cx="2377440" cy="10972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Réseau de neurones
Early stopping + L2
Architecture (50,25)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53728" y="3246120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CV RMSE: 6.348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02920" y="5440680"/>
            <a:ext cx="1115568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1">
                <a:solidFill>
                  <a:srgbClr val="64748B"/>
                </a:solidFill>
                <a:latin typeface="Calibri" panose="020F0502020204030204"/>
              </a:rPr>
              <a:t>GridSearchCV 5-fold KFold · Métrique de sélection : RMSE · Pipeline complet (preprocessor + estimator)</a:t>
            </a:r>
            <a:endParaRPr sz="1100" b="0" i="1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05 — Résultats — Test Set (données jamais vues)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27432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Modèle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46120" y="1234440"/>
            <a:ext cx="13716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28016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MAE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7720" y="1234440"/>
            <a:ext cx="13716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28016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RMSE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989320" y="1234440"/>
            <a:ext cx="13716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28016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R²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60920" y="1234440"/>
            <a:ext cx="13716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28016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MAPE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732520" y="1234440"/>
            <a:ext cx="137160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28016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 panose="020F0502020204030204"/>
              </a:rPr>
              <a:t>Verdict</a:t>
            </a:r>
            <a:endParaRPr sz="11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02920" y="1645920"/>
            <a:ext cx="274320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69164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 panose="020F0502020204030204"/>
              </a:rPr>
              <a:t>XGBoost</a:t>
            </a:r>
            <a:endParaRPr sz="11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246120" y="1645920"/>
            <a:ext cx="137160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39" y="16916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 panose="020F0502020204030204"/>
              </a:rPr>
              <a:t>2.502</a:t>
            </a:r>
            <a:endParaRPr sz="11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17720" y="1645920"/>
            <a:ext cx="137160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6916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 panose="020F0502020204030204"/>
              </a:rPr>
              <a:t>3.538</a:t>
            </a:r>
            <a:endParaRPr sz="11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989320" y="1645920"/>
            <a:ext cx="137160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6916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 panose="020F0502020204030204"/>
              </a:rPr>
              <a:t>0.9985</a:t>
            </a:r>
            <a:endParaRPr sz="11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60920" y="1645920"/>
            <a:ext cx="137160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6916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 panose="020F0502020204030204"/>
              </a:rPr>
              <a:t>1.84%</a:t>
            </a:r>
            <a:endParaRPr sz="11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732520" y="1645920"/>
            <a:ext cx="1371600" cy="41148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69164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 panose="020F0502020204030204"/>
              </a:rPr>
              <a:t>OK</a:t>
            </a:r>
            <a:endParaRPr sz="11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02920" y="2057400"/>
            <a:ext cx="27432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10312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Random Forest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246120" y="205740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91839" y="2103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2.634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617720" y="205740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2103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3.701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989320" y="205740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2103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0.9984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360920" y="205740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0" y="2103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1.90%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732520" y="205740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210312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OVERFITTING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02920" y="2468880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251460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Linear Regression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246120" y="2468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91839" y="25146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2.586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617720" y="2468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25146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5.879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989320" y="2468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35040" y="25146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0.9960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360920" y="2468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06640" y="25146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1.87%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732520" y="2468880"/>
            <a:ext cx="1371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251460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OK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02920" y="2880360"/>
            <a:ext cx="27432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2926080"/>
            <a:ext cx="2651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MLP (Deep Learning)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246120" y="288036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39" y="2926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2.877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617720" y="288036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3440" y="2926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5.983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989320" y="288036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35040" y="2926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0.9958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360920" y="288036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06640" y="2926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2.26%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732520" y="2880360"/>
            <a:ext cx="1371600" cy="411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778240" y="2926080"/>
            <a:ext cx="12801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293B"/>
                </a:solidFill>
                <a:latin typeface="Calibri" panose="020F0502020204030204"/>
              </a:rPr>
              <a:t>OK</a:t>
            </a:r>
            <a:endParaRPr sz="1100" b="0" i="0">
              <a:solidFill>
                <a:srgbClr val="1E293B"/>
              </a:solidFill>
              <a:latin typeface="Calibri" panose="020F0502020204030204"/>
            </a:endParaRPr>
          </a:p>
        </p:txBody>
      </p:sp>
      <p:pic>
        <p:nvPicPr>
          <p:cNvPr id="65" name="Picture 64" descr="07_metrics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977639"/>
            <a:ext cx="7315200" cy="2032000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7955279" y="3977639"/>
            <a:ext cx="3931920" cy="2468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46720" y="4023360"/>
            <a:ext cx="3749039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500" b="1" i="0">
                <a:solidFill>
                  <a:srgbClr val="10B981"/>
                </a:solidFill>
                <a:latin typeface="Calibri" panose="020F0502020204030204"/>
              </a:rPr>
              <a:t>XGBoost retenu</a:t>
            </a:r>
            <a:endParaRPr sz="15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046720" y="4572000"/>
            <a:ext cx="3749039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0B981"/>
                </a:solidFill>
                <a:latin typeface="Calibri" panose="020F0502020204030204"/>
              </a:rPr>
              <a:t>RMSE  :  3.538</a:t>
            </a:r>
            <a:endParaRPr sz="13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46720" y="5029200"/>
            <a:ext cx="3749039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R²  :  0.9985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046720" y="5486400"/>
            <a:ext cx="3749039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MAPE  :  1.84%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046720" y="5943600"/>
            <a:ext cx="3749039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FFFFFF"/>
                </a:solidFill>
                <a:latin typeface="Calibri" panose="020F0502020204030204"/>
              </a:rPr>
              <a:t>Overfitting  :  Aucun ✓</a:t>
            </a:r>
            <a:endParaRPr sz="13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06 — Interprétabilité SHAP — 3 méthodes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5" name="Picture 4" descr="10_shap_importance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5669280" cy="2962283"/>
          </a:xfrm>
          <a:prstGeom prst="rect">
            <a:avLst/>
          </a:prstGeom>
        </p:spPr>
      </p:pic>
      <p:pic>
        <p:nvPicPr>
          <p:cNvPr id="6" name="Picture 5" descr="13_interpretabilit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577840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5760" y="484632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0" i="1">
                <a:solidFill>
                  <a:srgbClr val="64748B"/>
                </a:solidFill>
                <a:latin typeface="Calibri" panose="020F0502020204030204"/>
              </a:rPr>
              <a:t>SHAP Importance globale (mean |SHAP value|)</a:t>
            </a:r>
            <a:endParaRPr sz="900" b="0" i="1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4846320"/>
            <a:ext cx="557784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0" i="1">
                <a:solidFill>
                  <a:srgbClr val="64748B"/>
                </a:solidFill>
                <a:latin typeface="Calibri" panose="020F0502020204030204"/>
              </a:rPr>
              <a:t>Comparaison 3 méthodes (normalisées à 100%)</a:t>
            </a:r>
            <a:endParaRPr sz="900" b="0" i="1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5303520"/>
            <a:ext cx="26060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03520"/>
            <a:ext cx="260604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3949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TV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53949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E74C3C"/>
                </a:solidFill>
                <a:latin typeface="Calibri" panose="020F0502020204030204"/>
              </a:rPr>
              <a:t>95.69%</a:t>
            </a:r>
            <a:endParaRPr sz="1400" b="1" i="0">
              <a:solidFill>
                <a:srgbClr val="E74C3C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5742432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0" i="0">
                <a:solidFill>
                  <a:srgbClr val="64748B"/>
                </a:solidFill>
                <a:latin typeface="Calibri" panose="020F0502020204030204"/>
              </a:rPr>
              <a:t>SHAP importance</a:t>
            </a:r>
            <a:endParaRPr sz="9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291840" y="5303520"/>
            <a:ext cx="26060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5303520"/>
            <a:ext cx="260604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53949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Radio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63440" y="53949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F59E0B"/>
                </a:solidFill>
                <a:latin typeface="Calibri" panose="020F0502020204030204"/>
              </a:rPr>
              <a:t>3.71%</a:t>
            </a:r>
            <a:endParaRPr sz="14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83280" y="5742432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0" i="0">
                <a:solidFill>
                  <a:srgbClr val="64748B"/>
                </a:solidFill>
                <a:latin typeface="Calibri" panose="020F0502020204030204"/>
              </a:rPr>
              <a:t>SHAP importance</a:t>
            </a:r>
            <a:endParaRPr sz="9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5303520"/>
            <a:ext cx="26060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5303520"/>
            <a:ext cx="260604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53949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Social Media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98079" y="53949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2563EB"/>
                </a:solidFill>
                <a:latin typeface="Calibri" panose="020F0502020204030204"/>
              </a:rPr>
              <a:t>0.47%</a:t>
            </a:r>
            <a:endParaRPr sz="1400" b="1" i="0">
              <a:solidFill>
                <a:srgbClr val="2563EB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7920" y="5742432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0" i="0">
                <a:solidFill>
                  <a:srgbClr val="64748B"/>
                </a:solidFill>
                <a:latin typeface="Calibri" panose="020F0502020204030204"/>
              </a:rPr>
              <a:t>SHAP importance</a:t>
            </a:r>
            <a:endParaRPr sz="9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961120" y="5303520"/>
            <a:ext cx="26060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61120" y="5303520"/>
            <a:ext cx="2606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5394960"/>
            <a:ext cx="13716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E293B"/>
                </a:solidFill>
                <a:latin typeface="Calibri" panose="020F0502020204030204"/>
              </a:rPr>
              <a:t>Influencer</a:t>
            </a:r>
            <a:endParaRPr sz="13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32720" y="539496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 i="0">
                <a:solidFill>
                  <a:srgbClr val="10B981"/>
                </a:solidFill>
                <a:latin typeface="Calibri" panose="020F0502020204030204"/>
              </a:rPr>
              <a:t>0.13%</a:t>
            </a:r>
            <a:endParaRPr sz="14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52560" y="5742432"/>
            <a:ext cx="237744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900" b="0" i="0">
                <a:solidFill>
                  <a:srgbClr val="64748B"/>
                </a:solidFill>
                <a:latin typeface="Calibri" panose="020F0502020204030204"/>
              </a:rPr>
              <a:t>SHAP importance</a:t>
            </a:r>
            <a:endParaRPr sz="90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07 — Dashboard Décisionnel (Streamlit)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38328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02920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965960"/>
            <a:ext cx="365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1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2697480" cy="5029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Accueil &amp; KPI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51560" y="2011680"/>
            <a:ext cx="269748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KPI executives, distribution Sales, insights CMO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371600"/>
            <a:ext cx="33832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371600"/>
            <a:ext cx="502920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965960"/>
            <a:ext cx="365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2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0600" y="1508760"/>
            <a:ext cx="2697480" cy="5029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Exploration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0600" y="2011680"/>
            <a:ext cx="269748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Filtres interactifs, scatter, boxplot, heatmap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955279" y="137160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371600"/>
            <a:ext cx="3383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371600"/>
            <a:ext cx="502920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19288" y="1965960"/>
            <a:ext cx="365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3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549640" y="1508760"/>
            <a:ext cx="2697480" cy="5029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Simulation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2011680"/>
            <a:ext cx="269748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Sliders budgets → prédiction + jauge ROI temps réel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474720"/>
            <a:ext cx="338328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502920" cy="1737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" y="4069080"/>
            <a:ext cx="365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4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" y="3611879"/>
            <a:ext cx="2697480" cy="5029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Comparaison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1560" y="4114800"/>
            <a:ext cx="269748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Tableau stylé, radar chart, prédictions vs réelles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206240" y="3474720"/>
            <a:ext cx="33832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06240" y="3474720"/>
            <a:ext cx="3383280" cy="64008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06240" y="3474720"/>
            <a:ext cx="502920" cy="1737360"/>
          </a:xfrm>
          <a:prstGeom prst="rect">
            <a:avLst/>
          </a:prstGeom>
          <a:solidFill>
            <a:srgbClr val="53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0248" y="4069080"/>
            <a:ext cx="3657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 panose="020F0502020204030204"/>
              </a:rPr>
              <a:t>5</a:t>
            </a:r>
            <a:endParaRPr sz="1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800600" y="3611879"/>
            <a:ext cx="2697480" cy="5029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1" i="0">
                <a:solidFill>
                  <a:srgbClr val="1E293B"/>
                </a:solidFill>
                <a:latin typeface="Calibri" panose="020F0502020204030204"/>
              </a:rPr>
              <a:t>SHAP Local</a:t>
            </a:r>
            <a:endParaRPr sz="1200" b="1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00600" y="4114800"/>
            <a:ext cx="2697480" cy="9144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Waterfall SHAP — expliquer UNE prédiction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57200" y="5532120"/>
            <a:ext cx="112471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FFFFFF"/>
                </a:solidFill>
                <a:latin typeface="Calibri" panose="020F0502020204030204"/>
              </a:rPr>
              <a:t>http://localhost:8501  ·  streamlit run dashboard/app.py  ·  Modèle : XGBoost R²=0.9985</a:t>
            </a:r>
            <a:endParaRPr sz="1200" b="0" i="0">
              <a:solidFill>
                <a:srgbClr val="FFFF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08 — API REST (FastAPI) — Industrialisation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00584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005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GET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54480" y="1371600"/>
            <a:ext cx="25603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1417320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/health</a:t>
            </a:r>
            <a:endParaRPr sz="1300" b="1" i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51960" y="1444752"/>
            <a:ext cx="740664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Statut du service + confirmation modèle chargé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39"/>
            <a:ext cx="1005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POST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54480" y="2560320"/>
            <a:ext cx="25603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39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/predict</a:t>
            </a:r>
            <a:endParaRPr sz="1300" b="1" i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251960" y="2633472"/>
            <a:ext cx="740664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Prédiction Sales (M$) + ROI estimé + validation entrées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10058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94759"/>
            <a:ext cx="10058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GET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54480" y="3749039"/>
            <a:ext cx="2560320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3794759"/>
            <a:ext cx="246888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FFFFFF"/>
                </a:solidFill>
                <a:latin typeface="Courier New" panose="02070309020205020404"/>
              </a:rPr>
              <a:t>/model-info</a:t>
            </a:r>
            <a:endParaRPr sz="1300" b="1" i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51960" y="3822191"/>
            <a:ext cx="7406640" cy="41148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200" b="0" i="0">
                <a:solidFill>
                  <a:srgbClr val="1E293B"/>
                </a:solidFill>
                <a:latin typeface="Calibri" panose="020F0502020204030204"/>
              </a:rPr>
              <a:t>Métriques production : RMSE, R², MAPE, features</a:t>
            </a:r>
            <a:endParaRPr sz="1200" b="0" i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5029200"/>
            <a:ext cx="50292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1" i="0">
                <a:solidFill>
                  <a:srgbClr val="64748B"/>
                </a:solidFill>
                <a:latin typeface="Calibri" panose="020F0502020204030204"/>
              </a:rPr>
              <a:t>Request</a:t>
            </a:r>
            <a:endParaRPr sz="1100" b="1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4360" y="5074920"/>
            <a:ext cx="4754880" cy="137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FFFFFF"/>
                </a:solidFill>
                <a:latin typeface="Courier New" panose="02070309020205020404"/>
              </a:rPr>
              <a:t>{
  "TV": 230.1,
  "Radio": 37.8,
  "Social Media": 69.2,
  "Influencer": "Macro"
}</a:t>
            </a:r>
            <a:endParaRPr sz="1000" b="0" i="0">
              <a:solidFill>
                <a:srgbClr val="FFFFFF"/>
              </a:solidFill>
              <a:latin typeface="Courier New" panose="020703090202050204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760720" y="5029200"/>
            <a:ext cx="5943600" cy="14630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480060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1" i="0">
                <a:solidFill>
                  <a:srgbClr val="64748B"/>
                </a:solidFill>
                <a:latin typeface="Calibri" panose="020F0502020204030204"/>
              </a:rPr>
              <a:t>Response</a:t>
            </a:r>
            <a:endParaRPr sz="1100" b="1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897880" y="5074920"/>
            <a:ext cx="5669280" cy="13716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000" b="0" i="0">
                <a:solidFill>
                  <a:srgbClr val="FFFFFF"/>
                </a:solidFill>
                <a:latin typeface="Courier New" panose="02070309020205020404"/>
              </a:rPr>
              <a:t>{
  "predicted_sales_M": 355.43,
  "roi_estimated": 1.054,
  "model_used": "XGBoost"
}</a:t>
            </a:r>
            <a:endParaRPr sz="1000" b="0" i="0">
              <a:solidFill>
                <a:srgbClr val="FFFFFF"/>
              </a:solidFill>
              <a:latin typeface="Courier New" panose="020703090202050204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09 — Conclusion &amp; Recommandations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54864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065F46"/>
                </a:solidFill>
                <a:latin typeface="Calibri" panose="020F0502020204030204"/>
              </a:rPr>
              <a:t>XGBoost : RMSE=3.538 · R²=0.9985 · MAPE=1.84% · Zéro overfitting — Précision suffisante pour planification budgétaire</a:t>
            </a:r>
            <a:endParaRPr sz="1300" b="1" i="0">
              <a:solidFill>
                <a:srgbClr val="065F46"/>
              </a:solidFill>
              <a:latin typeface="Calibri" panose="020F0502020204030204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539496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148840"/>
            <a:ext cx="51663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E74C3C"/>
                </a:solidFill>
                <a:latin typeface="Calibri" panose="020F0502020204030204"/>
              </a:rPr>
              <a:t>Prioriser le budget TV</a:t>
            </a:r>
            <a:endParaRPr sz="1300" b="1" i="0">
              <a:solidFill>
                <a:srgbClr val="E74C3C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2578608"/>
            <a:ext cx="516636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Corrélation 0.999 et 95.69% d'importance SHAP. ROI le plus élevé.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26480" y="201168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53949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2148840"/>
            <a:ext cx="51663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F59E0B"/>
                </a:solidFill>
                <a:latin typeface="Calibri" panose="020F0502020204030204"/>
              </a:rPr>
              <a:t>Optimiser Radio en second</a:t>
            </a:r>
            <a:endParaRPr sz="1300" b="1" i="0">
              <a:solidFill>
                <a:srgbClr val="F59E0B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36208" y="2578608"/>
            <a:ext cx="516636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Impact réel mais marginal (3.71% SHAP). Complémentaire à TV.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57200" y="365760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53949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794760"/>
            <a:ext cx="51663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2563EB"/>
                </a:solidFill>
                <a:latin typeface="Calibri" panose="020F0502020204030204"/>
              </a:rPr>
              <a:t>Limiter Social Media</a:t>
            </a:r>
            <a:endParaRPr sz="1300" b="1" i="0">
              <a:solidFill>
                <a:srgbClr val="2563EB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4224528"/>
            <a:ext cx="516636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Impact faible (0.47% SHAP). Rendement décroissant au-delà d'un seuil.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26480" y="3657600"/>
            <a:ext cx="539496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3657600"/>
            <a:ext cx="539496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3794760"/>
            <a:ext cx="516636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1" i="0">
                <a:solidFill>
                  <a:srgbClr val="10B981"/>
                </a:solidFill>
                <a:latin typeface="Calibri" panose="020F0502020204030204"/>
              </a:rPr>
              <a:t>Ne pas surpayer l'Influencer</a:t>
            </a:r>
            <a:endParaRPr sz="1300" b="1" i="0">
              <a:solidFill>
                <a:srgbClr val="10B981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36208" y="4224528"/>
            <a:ext cx="5166360" cy="6858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0.13% d'importance. Mega ≈ Nano en termes d'impact sur les ventes.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57200" y="5440680"/>
            <a:ext cx="11247120" cy="7772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468112"/>
            <a:ext cx="10881360" cy="7315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100" b="0" i="0">
                <a:solidFill>
                  <a:srgbClr val="783500"/>
                </a:solidFill>
                <a:latin typeface="Calibri" panose="020F0502020204030204"/>
              </a:rPr>
              <a:t>Résultat inattendu : le MLP (Deep Learning) est INFÉRIEUR à la Régression Linéaire.
Sur données tabulaires avec relations quasi-linéaires, les modèles à base d'arbres dominent.</a:t>
            </a:r>
            <a:endParaRPr sz="1100" b="0" i="0">
              <a:solidFill>
                <a:srgbClr val="783500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F2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 panose="020F0502020204030204"/>
              </a:rPr>
              <a:t>Merci pour votre attention</a:t>
            </a:r>
            <a:endParaRPr sz="3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 panose="020F0502020204030204"/>
              </a:rPr>
              <a:t>Salah Eddine Zbiri  · </a:t>
            </a:r>
            <a:r>
              <a:rPr lang="fr-FR" sz="1200" b="0" i="0">
                <a:solidFill>
                  <a:srgbClr val="94A3B8"/>
                </a:solidFill>
                <a:latin typeface="Calibri" panose="020F0502020204030204"/>
              </a:rPr>
              <a:t>Jazouli abdelhadi</a:t>
            </a:r>
            <a:r>
              <a:rPr sz="1200" b="0" i="0">
                <a:solidFill>
                  <a:srgbClr val="94A3B8"/>
                </a:solidFill>
                <a:latin typeface="Calibri" panose="020F0502020204030204"/>
              </a:rPr>
              <a:t>  ·  EFREI M1 DE 2025/2026</a:t>
            </a:r>
            <a:endParaRPr sz="1200" b="0" i="0">
              <a:solidFill>
                <a:srgbClr val="94A3B8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080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 panose="020F0502020204030204"/>
              </a:rPr>
              <a:t>  ·  Code : GitHub</a:t>
            </a:r>
            <a:endParaRPr sz="110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4593</Words>
  <Application>WPS Presentation</Application>
  <PresentationFormat>On-screen Show (4:3)</PresentationFormat>
  <Paragraphs>352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Calibri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solakx Gamer</cp:lastModifiedBy>
  <cp:revision>4</cp:revision>
  <dcterms:created xsi:type="dcterms:W3CDTF">2013-01-27T09:14:00Z</dcterms:created>
  <dcterms:modified xsi:type="dcterms:W3CDTF">2026-05-22T07:23:13Z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96FCED27DCC649EBBC5946D176B566E3_12</vt:lpwstr>
  </property>
  <property fmtid="{D5CDD505-2E9C-101B-9397-08002B2CF9AE}" pid="3" name="KSOProductBuildVer">
    <vt:lpwstr>1036-12.1.0.26372</vt:lpwstr>
  </property>
</Properties>
</file>